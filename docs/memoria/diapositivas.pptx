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Buenos días. Soy Andres Barbudo Rodriguez, CFT Paillaco. Este TPA calcula y simula: TAN, DSP sobre patrón y SIL a 24 V. No es un AHF de 400 V.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 tableros que alimentan racks, H3 se suma en el neutro. Yo no fabrico el filtro: estudio el fenómeno con cálculo, patrón y SIL 24 V.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lámina importante: no hubo ensayo a 400 V. Clase A no inventa el banco de 700 A. El TPA es 24 V.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Solo estos dos aparatos están fotografiados. No invento una segunda fuente. 48 V fuera.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Abro hil_app en el puerto 8080. Tres vistas. No necesito Docker para defender.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Muestro el PDF small: 80 A, 16 kA, XL3 160. Prediseño. No lo armé en taller.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número grande es Ih sobre I1 del patrón. Doce por ciento de tolerancia. No lo lleven a la SEC.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 vivo dejo el Monitor con combined_it. Si preguntan por la red del CFT, digo que 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Pulso start, enable, estop. Señalo el flag false. Si dicen 48 V, recuerdo el tope de 30 V.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 hay pañol y clase A, 24 V con Ilim primero. Si es aula, fotos. El CSV no es H3.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evidencia es pytest archivado en output/tpa. A5 no es un assert: es clase A en el pañol.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Cierro límites en voz alta para que no me los pregunten como trampa. Ya los dije yo.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vendo 500 kW. Futuro: 24 V con MCU, o un TPA distinto si aparece banco de 400 V.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Dejo la lámina de cierre y abro preguntas. Si piden 400 V, leo el alcance congelado.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62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CB244"/>
          </a:solidFill>
          <a:ln w="12700">
            <a:solidFill>
              <a:srgbClr val="CCB2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1887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CB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CFT PAILLACO  ·  CARRERA ELECTRICIDAD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7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Práctico Aplicado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2194560"/>
            <a:ext cx="10972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Controlador de borde para el estudio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un filtro activo de armónicos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3749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CB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Cálculo TAN  ·  DSP 3P+N  ·  SIL 24 VDC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47548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Andres Barbudo Rodriguez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51206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7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CFT Paillaco  ·  2026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92608"/>
            <a:ext cx="91440" cy="777240"/>
          </a:xfrm>
          <a:prstGeom prst="rect">
            <a:avLst/>
          </a:prstGeom>
          <a:solidFill>
            <a:srgbClr val="CCB244"/>
          </a:solidFill>
          <a:ln w="12700">
            <a:solidFill>
              <a:srgbClr val="CCB2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04088" y="292608"/>
            <a:ext cx="11155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A6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|  PROBLEMA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04088" y="50292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Armónicos 3P+N en tableros telecom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554480"/>
            <a:ext cx="3520440" cy="3108960"/>
          </a:xfrm>
          <a:prstGeom prst="rect">
            <a:avLst/>
          </a:prstGeom>
          <a:solidFill>
            <a:srgbClr val="D7E0EC"/>
          </a:solidFill>
          <a:ln w="12700">
            <a:solidFill>
              <a:srgbClr val="D7E0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554480"/>
            <a:ext cx="109728" cy="3108960"/>
          </a:xfrm>
          <a:prstGeom prst="rect">
            <a:avLst/>
          </a:prstGeom>
          <a:solidFill>
            <a:srgbClr val="CCB244"/>
          </a:solidFill>
          <a:ln w="12700">
            <a:solidFill>
              <a:srgbClr val="CCB2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7373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5A6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H3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822960" y="24231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0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Secuencia cero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292608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269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cancela entre fases. Se suma en el neutro.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206240" y="1554480"/>
            <a:ext cx="3520440" cy="3108960"/>
          </a:xfrm>
          <a:prstGeom prst="rect">
            <a:avLst/>
          </a:prstGeom>
          <a:solidFill>
            <a:srgbClr val="D7E0EC"/>
          </a:solidFill>
          <a:ln w="12700">
            <a:solidFill>
              <a:srgbClr val="D7E0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06240" y="1554480"/>
            <a:ext cx="109728" cy="3108960"/>
          </a:xfrm>
          <a:prstGeom prst="rect">
            <a:avLst/>
          </a:prstGeom>
          <a:solidFill>
            <a:srgbClr val="CCB244"/>
          </a:solidFill>
          <a:ln w="12700">
            <a:solidFill>
              <a:srgbClr val="CCB2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26280" y="17373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5A6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H5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4526280" y="24231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0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Secuencia negativa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26280" y="292608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269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Típica de rectificador de 6 pulsos.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909560" y="1554480"/>
            <a:ext cx="3520440" cy="3108960"/>
          </a:xfrm>
          <a:prstGeom prst="rect">
            <a:avLst/>
          </a:prstGeom>
          <a:solidFill>
            <a:srgbClr val="D7E0EC"/>
          </a:solidFill>
          <a:ln w="12700">
            <a:solidFill>
              <a:srgbClr val="D7E0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09560" y="1554480"/>
            <a:ext cx="109728" cy="3108960"/>
          </a:xfrm>
          <a:prstGeom prst="rect">
            <a:avLst/>
          </a:prstGeom>
          <a:solidFill>
            <a:srgbClr val="CCB244"/>
          </a:solidFill>
          <a:ln w="12700">
            <a:solidFill>
              <a:srgbClr val="CCB2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0" y="17373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5A6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H7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8229600" y="24231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0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Secuencia positiva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229600" y="292608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269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También aparece en cargas no lineales.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02920" y="484632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30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AHF de cuatro ramas es la respuesta de producto. Este TPA no lo construye.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0" y="6510528"/>
            <a:ext cx="12161520" cy="45720"/>
          </a:xfrm>
          <a:prstGeom prst="rect">
            <a:avLst/>
          </a:prstGeom>
          <a:solidFill>
            <a:srgbClr val="CCB244"/>
          </a:solidFill>
          <a:ln w="12700">
            <a:solidFill>
              <a:srgbClr val="CCB24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6556248"/>
            <a:ext cx="12161520" cy="301752"/>
          </a:xfrm>
          <a:prstGeom prst="rect">
            <a:avLst/>
          </a:prstGeom>
          <a:solidFill>
            <a:srgbClr val="303030"/>
          </a:solidFill>
          <a:ln w="12700">
            <a:solidFill>
              <a:srgbClr val="30303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6556248"/>
            <a:ext cx="6400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B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CFT PAILLACO  ·  Electricidad  ·  TPA 2026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195560" y="6556248"/>
            <a:ext cx="1463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CB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/  14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92608"/>
            <a:ext cx="91440" cy="777240"/>
          </a:xfrm>
          <a:prstGeom prst="rect">
            <a:avLst/>
          </a:prstGeom>
          <a:solidFill>
            <a:srgbClr val="CCB244"/>
          </a:solidFill>
          <a:ln w="12700">
            <a:solidFill>
              <a:srgbClr val="CCB2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04088" y="292608"/>
            <a:ext cx="11155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A6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|  ALCANCE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04088" y="50292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sí  ·  qué no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5486400" cy="4480560"/>
          </a:xfrm>
          <a:prstGeom prst="rect">
            <a:avLst/>
          </a:prstGeom>
          <a:solidFill>
            <a:srgbClr val="D7E0EC"/>
          </a:solidFill>
          <a:ln w="12700">
            <a:solidFill>
              <a:srgbClr val="D7E0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5544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A6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 EN ESTE TPA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2011680"/>
            <a:ext cx="49377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0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Prediseño TAN IEC 61439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0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DSP sobre patrón (H3/H5/H7, THDi Ih/I1)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0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 24 V / 120 W, salidas físicas false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0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Pañol: KPS305D + Gratten, procedimiento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63640" y="1417320"/>
            <a:ext cx="5486400" cy="4480560"/>
          </a:xfrm>
          <a:prstGeom prst="rect">
            <a:avLst/>
          </a:prstGeom>
          <a:solidFill>
            <a:srgbClr val="F8E8E8"/>
          </a:solidFill>
          <a:ln w="12700">
            <a:solidFill>
              <a:srgbClr val="F8E8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63640" y="1417320"/>
            <a:ext cx="5486400" cy="640080"/>
          </a:xfrm>
          <a:prstGeom prst="rect">
            <a:avLst/>
          </a:prstGeom>
          <a:solidFill>
            <a:srgbClr val="8F3232"/>
          </a:solidFill>
          <a:ln w="12700">
            <a:solidFill>
              <a:srgbClr val="8F32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146304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HUBO ENSAYO A 400 V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46520" y="2240280"/>
            <a:ext cx="50292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0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380/400 VAC, 500 kW, ~700 A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0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V (la KPS305D topea a 30 V)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0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PWM / GPIO / tablero construido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0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THDi como evidencia SEC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0" y="6510528"/>
            <a:ext cx="12161520" cy="45720"/>
          </a:xfrm>
          <a:prstGeom prst="rect">
            <a:avLst/>
          </a:prstGeom>
          <a:solidFill>
            <a:srgbClr val="CCB244"/>
          </a:solidFill>
          <a:ln w="12700">
            <a:solidFill>
              <a:srgbClr val="CCB24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6556248"/>
            <a:ext cx="12161520" cy="301752"/>
          </a:xfrm>
          <a:prstGeom prst="rect">
            <a:avLst/>
          </a:prstGeom>
          <a:solidFill>
            <a:srgbClr val="303030"/>
          </a:solidFill>
          <a:ln w="12700">
            <a:solidFill>
              <a:srgbClr val="30303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6556248"/>
            <a:ext cx="6400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B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CFT PAILLACO  ·  Electricidad  ·  TPA 2026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195560" y="6556248"/>
            <a:ext cx="1463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CB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/  14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92608"/>
            <a:ext cx="91440" cy="777240"/>
          </a:xfrm>
          <a:prstGeom prst="rect">
            <a:avLst/>
          </a:prstGeom>
          <a:solidFill>
            <a:srgbClr val="CCB244"/>
          </a:solidFill>
          <a:ln w="12700">
            <a:solidFill>
              <a:srgbClr val="CCB2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04088" y="292608"/>
            <a:ext cx="11155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A6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|  PAÑOL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04088" y="50292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Medios reales, fotos 21-ago-2026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463040"/>
            <a:ext cx="111556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46304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6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154680" y="146304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wanptek KPS305D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537960" y="146304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269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0–30 V / 0–5 A  ·  punto 24,0 V  ·  Ilim  ·  techo 30 V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2920" y="2423160"/>
            <a:ext cx="11155680" cy="868680"/>
          </a:xfrm>
          <a:prstGeom prst="rect">
            <a:avLst/>
          </a:prstGeom>
          <a:solidFill>
            <a:srgbClr val="D7E0EC"/>
          </a:solidFill>
          <a:ln w="12700">
            <a:solidFill>
              <a:srgbClr val="D7E0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42316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6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Osciloscopio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154680" y="242316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Gratten GA1102CAL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537960" y="242316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269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MHz  ·  2 ch  ·  1 GSa/s  ·  CSV/BMP USB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02920" y="3383280"/>
            <a:ext cx="111556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38328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6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Segunda persona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154680" y="338328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Licencia clase A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537960" y="338328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269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Obligatoria si hay 24 V energizados (A5)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02920" y="4343400"/>
            <a:ext cx="11155680" cy="868680"/>
          </a:xfrm>
          <a:prstGeom prst="rect">
            <a:avLst/>
          </a:prstGeom>
          <a:solidFill>
            <a:srgbClr val="D7E0EC"/>
          </a:solidFill>
          <a:ln w="12700">
            <a:solidFill>
              <a:srgbClr val="D7E0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434340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6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fotografiado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154680" y="434340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inventar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537960" y="434340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269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2.ª fuente, sondas, generador, E-stop de seta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02920" y="534924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F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TPA es 24 V. 48 V no cabe en la KPS305D.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0" y="6510528"/>
            <a:ext cx="12161520" cy="45720"/>
          </a:xfrm>
          <a:prstGeom prst="rect">
            <a:avLst/>
          </a:prstGeom>
          <a:solidFill>
            <a:srgbClr val="CCB244"/>
          </a:solidFill>
          <a:ln w="12700">
            <a:solidFill>
              <a:srgbClr val="CCB24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6556248"/>
            <a:ext cx="12161520" cy="301752"/>
          </a:xfrm>
          <a:prstGeom prst="rect">
            <a:avLst/>
          </a:prstGeom>
          <a:solidFill>
            <a:srgbClr val="303030"/>
          </a:solidFill>
          <a:ln w="12700">
            <a:solidFill>
              <a:srgbClr val="30303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6556248"/>
            <a:ext cx="6400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B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CFT PAILLACO  ·  Electricidad  ·  TPA 2026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0195560" y="6556248"/>
            <a:ext cx="1463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CB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/  14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92608"/>
            <a:ext cx="91440" cy="777240"/>
          </a:xfrm>
          <a:prstGeom prst="rect">
            <a:avLst/>
          </a:prstGeom>
          <a:solidFill>
            <a:srgbClr val="CCB244"/>
          </a:solidFill>
          <a:ln w="12700">
            <a:solidFill>
              <a:srgbClr val="CCB2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04088" y="292608"/>
            <a:ext cx="11155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A6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|  SOFTWARE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04088" y="50292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defiende con python hil_app.py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" y="141732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0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DAQ / patrón  →  DSP (αβ0, PLL, H3/H5/H7)  →  Monitor · TAN · Banco 24 V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2920" y="2103120"/>
            <a:ext cx="3520440" cy="2011680"/>
          </a:xfrm>
          <a:prstGeom prst="rect">
            <a:avLst/>
          </a:prstGeom>
          <a:solidFill>
            <a:srgbClr val="303030"/>
          </a:solidFill>
          <a:ln w="12700">
            <a:solidFill>
              <a:srgbClr val="3030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28600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CB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 AHF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301752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7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Patrón o CSV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206240" y="2103120"/>
            <a:ext cx="3520440" cy="2011680"/>
          </a:xfrm>
          <a:prstGeom prst="rect">
            <a:avLst/>
          </a:prstGeom>
          <a:solidFill>
            <a:srgbClr val="303030"/>
          </a:solidFill>
          <a:ln w="12700">
            <a:solidFill>
              <a:srgbClr val="3030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0" y="228600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CB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Diseño TAN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389120" y="301752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7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Prediseño 61439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909560" y="2103120"/>
            <a:ext cx="3520440" cy="2011680"/>
          </a:xfrm>
          <a:prstGeom prst="rect">
            <a:avLst/>
          </a:prstGeom>
          <a:solidFill>
            <a:srgbClr val="303030"/>
          </a:solidFill>
          <a:ln w="12700">
            <a:solidFill>
              <a:srgbClr val="30303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92440" y="228600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CB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Banco 24 V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092440" y="301752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7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SIL, sin GPIO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02920" y="438912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269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sobre SO general no es hard real-time. Docker / Modbus / Influx: capacidad, no requisito.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0" y="6510528"/>
            <a:ext cx="12161520" cy="45720"/>
          </a:xfrm>
          <a:prstGeom prst="rect">
            <a:avLst/>
          </a:prstGeom>
          <a:solidFill>
            <a:srgbClr val="CCB244"/>
          </a:solidFill>
          <a:ln w="12700">
            <a:solidFill>
              <a:srgbClr val="CCB24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6556248"/>
            <a:ext cx="12161520" cy="301752"/>
          </a:xfrm>
          <a:prstGeom prst="rect">
            <a:avLst/>
          </a:prstGeom>
          <a:solidFill>
            <a:srgbClr val="303030"/>
          </a:solidFill>
          <a:ln w="12700">
            <a:solidFill>
              <a:srgbClr val="30303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6556248"/>
            <a:ext cx="6400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B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CFT PAILLACO  ·  Electricidad  ·  TPA 2026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195560" y="6556248"/>
            <a:ext cx="1463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CB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/  14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92608"/>
            <a:ext cx="91440" cy="777240"/>
          </a:xfrm>
          <a:prstGeom prst="rect">
            <a:avLst/>
          </a:prstGeom>
          <a:solidFill>
            <a:srgbClr val="CCB244"/>
          </a:solidFill>
          <a:ln w="12700">
            <a:solidFill>
              <a:srgbClr val="CCB2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04088" y="292608"/>
            <a:ext cx="11155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A6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|  TAN SMALL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04088" y="50292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número real del repo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554480"/>
            <a:ext cx="2651760" cy="2286000"/>
          </a:xfrm>
          <a:prstGeom prst="rect">
            <a:avLst/>
          </a:prstGeom>
          <a:solidFill>
            <a:srgbClr val="D7E0EC"/>
          </a:solidFill>
          <a:ln w="12700">
            <a:solidFill>
              <a:srgbClr val="D7E0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78308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A6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 A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94360" y="28803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0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selección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91840" y="1554480"/>
            <a:ext cx="2651760" cy="2286000"/>
          </a:xfrm>
          <a:prstGeom prst="rect">
            <a:avLst/>
          </a:prstGeom>
          <a:solidFill>
            <a:srgbClr val="D7E0EC"/>
          </a:solidFill>
          <a:ln w="12700">
            <a:solidFill>
              <a:srgbClr val="D7E0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0" y="178308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A6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kA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383280" y="28803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0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Icw / Icc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080760" y="1554480"/>
            <a:ext cx="2651760" cy="2286000"/>
          </a:xfrm>
          <a:prstGeom prst="rect">
            <a:avLst/>
          </a:prstGeom>
          <a:solidFill>
            <a:srgbClr val="D7E0EC"/>
          </a:solidFill>
          <a:ln w="12700">
            <a:solidFill>
              <a:srgbClr val="D7E0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80760" y="178308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A6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10,7 °C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172200" y="28803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0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ΔT estimado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869680" y="1554480"/>
            <a:ext cx="2651760" cy="2286000"/>
          </a:xfrm>
          <a:prstGeom prst="rect">
            <a:avLst/>
          </a:prstGeom>
          <a:solidFill>
            <a:srgbClr val="D7E0EC"/>
          </a:solidFill>
          <a:ln w="12700">
            <a:solidFill>
              <a:srgbClr val="D7E0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69680" y="178308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A6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XL³ 160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8961120" y="28803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0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 2b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2920" y="4114800"/>
            <a:ext cx="11155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0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small: 45 kW, 4 racks. 400 V es tensión de cálculo, no ensayo de pañol.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0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 un tablero construido ni certificado IEC 61439.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0" y="6510528"/>
            <a:ext cx="12161520" cy="45720"/>
          </a:xfrm>
          <a:prstGeom prst="rect">
            <a:avLst/>
          </a:prstGeom>
          <a:solidFill>
            <a:srgbClr val="CCB244"/>
          </a:solidFill>
          <a:ln w="12700">
            <a:solidFill>
              <a:srgbClr val="CCB24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6556248"/>
            <a:ext cx="12161520" cy="301752"/>
          </a:xfrm>
          <a:prstGeom prst="rect">
            <a:avLst/>
          </a:prstGeom>
          <a:solidFill>
            <a:srgbClr val="303030"/>
          </a:solidFill>
          <a:ln w="12700">
            <a:solidFill>
              <a:srgbClr val="30303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6556248"/>
            <a:ext cx="6400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B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CFT PAILLACO  ·  Electricidad  ·  TPA 2026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195560" y="6556248"/>
            <a:ext cx="1463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CB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/  14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92608"/>
            <a:ext cx="91440" cy="777240"/>
          </a:xfrm>
          <a:prstGeom prst="rect">
            <a:avLst/>
          </a:prstGeom>
          <a:solidFill>
            <a:srgbClr val="CCB244"/>
          </a:solidFill>
          <a:ln w="12700">
            <a:solidFill>
              <a:srgbClr val="CCB2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04088" y="292608"/>
            <a:ext cx="11155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A6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|  DSP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04088" y="50292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THDi académico, tolerancia 12 %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463040"/>
            <a:ext cx="3840480" cy="4206240"/>
          </a:xfrm>
          <a:prstGeom prst="rect">
            <a:avLst/>
          </a:prstGeom>
          <a:solidFill>
            <a:srgbClr val="303030"/>
          </a:solidFill>
          <a:ln w="12700">
            <a:solidFill>
              <a:srgbClr val="3030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920240"/>
            <a:ext cx="3474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CB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23 %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685800" y="3291840"/>
            <a:ext cx="3474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7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THDi = Ih/I1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D7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H3+H5+H7  ·  combined_it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709160" y="1645920"/>
            <a:ext cx="67665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0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PLL sobre tensión del PCC, no sobre corriente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0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 cero (neutro), H5 negativa, H7 positiva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0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REL_TOL = 0.12 en tests/test_dsp.py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0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 IEC 61000-4-7 ni SEC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0" y="6510528"/>
            <a:ext cx="12161520" cy="45720"/>
          </a:xfrm>
          <a:prstGeom prst="rect">
            <a:avLst/>
          </a:prstGeom>
          <a:solidFill>
            <a:srgbClr val="CCB244"/>
          </a:solidFill>
          <a:ln w="12700">
            <a:solidFill>
              <a:srgbClr val="CCB24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6556248"/>
            <a:ext cx="12161520" cy="301752"/>
          </a:xfrm>
          <a:prstGeom prst="rect">
            <a:avLst/>
          </a:prstGeom>
          <a:solidFill>
            <a:srgbClr val="303030"/>
          </a:solidFill>
          <a:ln w="12700">
            <a:solidFill>
              <a:srgbClr val="30303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6556248"/>
            <a:ext cx="6400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B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CFT PAILLACO  ·  Electricidad  ·  TPA 2026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195560" y="6556248"/>
            <a:ext cx="1463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CB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/  14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92608"/>
            <a:ext cx="91440" cy="777240"/>
          </a:xfrm>
          <a:prstGeom prst="rect">
            <a:avLst/>
          </a:prstGeom>
          <a:solidFill>
            <a:srgbClr val="CCB244"/>
          </a:solidFill>
          <a:ln w="12700">
            <a:solidFill>
              <a:srgbClr val="CCB2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04088" y="292608"/>
            <a:ext cx="11155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A6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|  DEMO 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04088" y="50292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 AHF — patrón sintético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" y="141732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A6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hil_app.py  →  http://localhost:8080  →  Monitor AHF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1965960"/>
            <a:ext cx="11155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0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muestro: PLL ~50 Hz, H3/H5/H7, THDi académico.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30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no digo: “medimos la red del CFT”.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02920" y="3383280"/>
            <a:ext cx="11155680" cy="1737360"/>
          </a:xfrm>
          <a:prstGeom prst="rect">
            <a:avLst/>
          </a:prstGeom>
          <a:solidFill>
            <a:srgbClr val="F3EDDD"/>
          </a:solidFill>
          <a:ln w="12700">
            <a:solidFill>
              <a:srgbClr val="F3ED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79476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0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Gratten no genera este espectro. combined_it está en dsp/patterns.py.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0" y="6510528"/>
            <a:ext cx="12161520" cy="45720"/>
          </a:xfrm>
          <a:prstGeom prst="rect">
            <a:avLst/>
          </a:prstGeom>
          <a:solidFill>
            <a:srgbClr val="CCB244"/>
          </a:solidFill>
          <a:ln w="12700">
            <a:solidFill>
              <a:srgbClr val="CCB24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6556248"/>
            <a:ext cx="12161520" cy="301752"/>
          </a:xfrm>
          <a:prstGeom prst="rect">
            <a:avLst/>
          </a:prstGeom>
          <a:solidFill>
            <a:srgbClr val="303030"/>
          </a:solidFill>
          <a:ln w="12700">
            <a:solidFill>
              <a:srgbClr val="30303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6556248"/>
            <a:ext cx="6400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B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CFT PAILLACO  ·  Electricidad  ·  TPA 2026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195560" y="6556248"/>
            <a:ext cx="1463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CB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/  14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92608"/>
            <a:ext cx="91440" cy="777240"/>
          </a:xfrm>
          <a:prstGeom prst="rect">
            <a:avLst/>
          </a:prstGeom>
          <a:solidFill>
            <a:srgbClr val="CCB244"/>
          </a:solidFill>
          <a:ln w="12700">
            <a:solidFill>
              <a:srgbClr val="CCB2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04088" y="292608"/>
            <a:ext cx="11155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A6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|  DEMO C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04088" y="50292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Banco SIL 24 V — sin salidas físicas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554480"/>
            <a:ext cx="2103120" cy="1005840"/>
          </a:xfrm>
          <a:prstGeom prst="rect">
            <a:avLst/>
          </a:prstGeom>
          <a:solidFill>
            <a:srgbClr val="5A64BF"/>
          </a:solidFill>
          <a:ln w="12700">
            <a:solidFill>
              <a:srgbClr val="5A64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55448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POWER_OFF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0" y="1554480"/>
            <a:ext cx="2103120" cy="1005840"/>
          </a:xfrm>
          <a:prstGeom prst="rect">
            <a:avLst/>
          </a:prstGeom>
          <a:solidFill>
            <a:srgbClr val="5A64BF"/>
          </a:solidFill>
          <a:ln w="12700">
            <a:solidFill>
              <a:srgbClr val="5A64B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0" y="155448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SELF_TEST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983480" y="1554480"/>
            <a:ext cx="2103120" cy="1005840"/>
          </a:xfrm>
          <a:prstGeom prst="rect">
            <a:avLst/>
          </a:prstGeom>
          <a:solidFill>
            <a:srgbClr val="5A64BF"/>
          </a:solidFill>
          <a:ln w="12700">
            <a:solidFill>
              <a:srgbClr val="5A64B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83480" y="155448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PRECHARGE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223760" y="1554480"/>
            <a:ext cx="2103120" cy="1005840"/>
          </a:xfrm>
          <a:prstGeom prst="rect">
            <a:avLst/>
          </a:prstGeom>
          <a:solidFill>
            <a:srgbClr val="5A64BF"/>
          </a:solidFill>
          <a:ln w="12700">
            <a:solidFill>
              <a:srgbClr val="5A64B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223760" y="155448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464040" y="1554480"/>
            <a:ext cx="2103120" cy="1005840"/>
          </a:xfrm>
          <a:prstGeom prst="rect">
            <a:avLst/>
          </a:prstGeom>
          <a:solidFill>
            <a:srgbClr val="5A64BF"/>
          </a:solidFill>
          <a:ln w="12700">
            <a:solidFill>
              <a:srgbClr val="5A64B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464040" y="155448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2926080"/>
            <a:ext cx="11155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0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physical_outputs_available = false  ·  source_v = 24 V  ·  techo 30 V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0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E-stop enclavado. El PC no energiza la KPS305D. No hay 48 V.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0" y="6510528"/>
            <a:ext cx="12161520" cy="45720"/>
          </a:xfrm>
          <a:prstGeom prst="rect">
            <a:avLst/>
          </a:prstGeom>
          <a:solidFill>
            <a:srgbClr val="CCB244"/>
          </a:solidFill>
          <a:ln w="12700">
            <a:solidFill>
              <a:srgbClr val="CCB24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6556248"/>
            <a:ext cx="12161520" cy="301752"/>
          </a:xfrm>
          <a:prstGeom prst="rect">
            <a:avLst/>
          </a:prstGeom>
          <a:solidFill>
            <a:srgbClr val="303030"/>
          </a:solidFill>
          <a:ln w="12700">
            <a:solidFill>
              <a:srgbClr val="30303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6556248"/>
            <a:ext cx="6400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B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CFT PAILLACO  ·  Electricidad  ·  TPA 2026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195560" y="6556248"/>
            <a:ext cx="1463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CB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/  14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92608"/>
            <a:ext cx="91440" cy="777240"/>
          </a:xfrm>
          <a:prstGeom prst="rect">
            <a:avLst/>
          </a:prstGeom>
          <a:solidFill>
            <a:srgbClr val="CCB244"/>
          </a:solidFill>
          <a:ln w="12700">
            <a:solidFill>
              <a:srgbClr val="CCB2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04088" y="292608"/>
            <a:ext cx="11155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A6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|  CASO 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04088" y="50292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pañol o aula sin energía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" y="1463040"/>
            <a:ext cx="11155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0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Sede A: 24,0 V  ·  Ilim 0,50 A  ·  CH1 Mean  ·  CSV USB  ·  clase A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0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Sede B: fotos de placa + BMP. “Hoy no hay 24 V vivos.”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02920" y="2880360"/>
            <a:ext cx="11155680" cy="2103120"/>
          </a:xfrm>
          <a:prstGeom prst="rect">
            <a:avLst/>
          </a:prstGeom>
          <a:solidFill>
            <a:srgbClr val="F3EDDD"/>
          </a:solidFill>
          <a:ln w="12700">
            <a:solidFill>
              <a:srgbClr val="F3ED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3063240"/>
            <a:ext cx="105156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0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Frase obligatoria: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0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 demuestra la cadena fuente–scope–CSV–software.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0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demuestra H3 ni la red del CFT.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0" y="6510528"/>
            <a:ext cx="12161520" cy="45720"/>
          </a:xfrm>
          <a:prstGeom prst="rect">
            <a:avLst/>
          </a:prstGeom>
          <a:solidFill>
            <a:srgbClr val="CCB244"/>
          </a:solidFill>
          <a:ln w="12700">
            <a:solidFill>
              <a:srgbClr val="CCB24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6556248"/>
            <a:ext cx="12161520" cy="301752"/>
          </a:xfrm>
          <a:prstGeom prst="rect">
            <a:avLst/>
          </a:prstGeom>
          <a:solidFill>
            <a:srgbClr val="303030"/>
          </a:solidFill>
          <a:ln w="12700">
            <a:solidFill>
              <a:srgbClr val="3030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6556248"/>
            <a:ext cx="6400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B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CFT PAILLACO  ·  Electricidad  ·  TPA 2026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195560" y="6556248"/>
            <a:ext cx="1463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CB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/  14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92608"/>
            <a:ext cx="91440" cy="777240"/>
          </a:xfrm>
          <a:prstGeom prst="rect">
            <a:avLst/>
          </a:prstGeom>
          <a:solidFill>
            <a:srgbClr val="CCB244"/>
          </a:solidFill>
          <a:ln w="12700">
            <a:solidFill>
              <a:srgbClr val="CCB2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04088" y="292608"/>
            <a:ext cx="11155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A6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|  TESTS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04088" y="50292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pytest tests tan_telecom/tests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463040"/>
            <a:ext cx="5440680" cy="1828800"/>
          </a:xfrm>
          <a:prstGeom prst="rect">
            <a:avLst/>
          </a:prstGeom>
          <a:solidFill>
            <a:srgbClr val="D7E0EC"/>
          </a:solidFill>
          <a:ln w="12700">
            <a:solidFill>
              <a:srgbClr val="D7E0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6916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A6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DSP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210312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test_dsp.py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256032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269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Patrones, REL_TOL 12 %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26480" y="1463040"/>
            <a:ext cx="5440680" cy="1828800"/>
          </a:xfrm>
          <a:prstGeom prst="rect">
            <a:avLst/>
          </a:prstGeom>
          <a:solidFill>
            <a:srgbClr val="D7E0EC"/>
          </a:solidFill>
          <a:ln w="12700">
            <a:solidFill>
              <a:srgbClr val="D7E0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16916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A6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0" y="210312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tan_telecom/tests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00800" y="256032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269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80 A, PDF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02920" y="3429000"/>
            <a:ext cx="5440680" cy="1828800"/>
          </a:xfrm>
          <a:prstGeom prst="rect">
            <a:avLst/>
          </a:prstGeom>
          <a:solidFill>
            <a:srgbClr val="D7E0EC"/>
          </a:solidFill>
          <a:ln w="12700">
            <a:solidFill>
              <a:srgbClr val="D7E0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6576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A6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77240" y="40690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test_power_stage.py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77240" y="45262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269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Latch, flag false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126480" y="3429000"/>
            <a:ext cx="5440680" cy="1828800"/>
          </a:xfrm>
          <a:prstGeom prst="rect">
            <a:avLst/>
          </a:prstGeom>
          <a:solidFill>
            <a:srgbClr val="D7E0EC"/>
          </a:solidFill>
          <a:ln w="12700">
            <a:solidFill>
              <a:srgbClr val="D7E0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0" y="36576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A6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Humo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0" y="40690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test_tpa_smoke.py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400800" y="45262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269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Camino de defensa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0" y="6510528"/>
            <a:ext cx="12161520" cy="45720"/>
          </a:xfrm>
          <a:prstGeom prst="rect">
            <a:avLst/>
          </a:prstGeom>
          <a:solidFill>
            <a:srgbClr val="CCB244"/>
          </a:solidFill>
          <a:ln w="12700">
            <a:solidFill>
              <a:srgbClr val="CCB24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6556248"/>
            <a:ext cx="12161520" cy="301752"/>
          </a:xfrm>
          <a:prstGeom prst="rect">
            <a:avLst/>
          </a:prstGeom>
          <a:solidFill>
            <a:srgbClr val="303030"/>
          </a:solidFill>
          <a:ln w="12700">
            <a:solidFill>
              <a:srgbClr val="30303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6556248"/>
            <a:ext cx="6400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B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CFT PAILLACO  ·  Electricidad  ·  TPA 2026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195560" y="6556248"/>
            <a:ext cx="1463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CB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/  14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92608"/>
            <a:ext cx="91440" cy="777240"/>
          </a:xfrm>
          <a:prstGeom prst="rect">
            <a:avLst/>
          </a:prstGeom>
          <a:solidFill>
            <a:srgbClr val="CCB244"/>
          </a:solidFill>
          <a:ln w="12700">
            <a:solidFill>
              <a:srgbClr val="CCB2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04088" y="292608"/>
            <a:ext cx="11155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A6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|  LÍMITES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04088" y="50292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no afirmo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" y="1463040"/>
            <a:ext cx="1115568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30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hay medición certificada ni THDi SEC.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30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hay PWM real ni 48 V ni ensayo 400 V.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30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no es hard real-time.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30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 no está construido. Campaña CSV firmada: pendiente.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30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A ≠ banco de ~700 A.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0" y="6510528"/>
            <a:ext cx="12161520" cy="45720"/>
          </a:xfrm>
          <a:prstGeom prst="rect">
            <a:avLst/>
          </a:prstGeom>
          <a:solidFill>
            <a:srgbClr val="CCB244"/>
          </a:solidFill>
          <a:ln w="12700">
            <a:solidFill>
              <a:srgbClr val="CCB24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556248"/>
            <a:ext cx="12161520" cy="301752"/>
          </a:xfrm>
          <a:prstGeom prst="rect">
            <a:avLst/>
          </a:prstGeom>
          <a:solidFill>
            <a:srgbClr val="303030"/>
          </a:solidFill>
          <a:ln w="12700">
            <a:solidFill>
              <a:srgbClr val="30303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6556248"/>
            <a:ext cx="6400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B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CFT PAILLACO  ·  Electricidad  ·  TPA 2026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195560" y="6556248"/>
            <a:ext cx="1463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CB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 /  14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92608"/>
            <a:ext cx="91440" cy="777240"/>
          </a:xfrm>
          <a:prstGeom prst="rect">
            <a:avLst/>
          </a:prstGeom>
          <a:solidFill>
            <a:srgbClr val="CCB244"/>
          </a:solidFill>
          <a:ln w="12700">
            <a:solidFill>
              <a:srgbClr val="CCB2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04088" y="292608"/>
            <a:ext cx="11155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A6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 |  CIERRE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04088" y="50292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Hipótesis cumplida en software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" y="1508760"/>
            <a:ext cx="11155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0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el DSP sigue al patrón (12 %) y la FSM no rearma sola, el TPA cumple.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2920" y="2651760"/>
            <a:ext cx="111556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269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futuro, fuera de este TPA: MCU/PWM a 24 V; analizador certificado; un TPA nuevo si hay medio de 400 V. El siguiente paso no es 500 kW en el CFT.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6510528"/>
            <a:ext cx="12161520" cy="45720"/>
          </a:xfrm>
          <a:prstGeom prst="rect">
            <a:avLst/>
          </a:prstGeom>
          <a:solidFill>
            <a:srgbClr val="CCB244"/>
          </a:solidFill>
          <a:ln w="12700">
            <a:solidFill>
              <a:srgbClr val="CCB24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6556248"/>
            <a:ext cx="12161520" cy="301752"/>
          </a:xfrm>
          <a:prstGeom prst="rect">
            <a:avLst/>
          </a:prstGeom>
          <a:solidFill>
            <a:srgbClr val="303030"/>
          </a:solidFill>
          <a:ln w="12700">
            <a:solidFill>
              <a:srgbClr val="30303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6556248"/>
            <a:ext cx="6400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B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CFT PAILLACO  ·  Electricidad  ·  TPA 2026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195560" y="6556248"/>
            <a:ext cx="1463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CB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 /  14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62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CB244"/>
          </a:solidFill>
          <a:ln w="12700">
            <a:solidFill>
              <a:srgbClr val="CCB2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01168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Gracias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310896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CB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Andres Barbudo Rodriguez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36118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7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CFT Paillaco  ·  2026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45720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CB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TPA AHF Edge Controller — CFT Paillaco</dc:title>
  <dc:subject>Defensa TPA Electricidad 2026</dc:subject>
  <dc:creator>Andres Barbudo Rodriguez</dc:creator>
  <cp:lastModifiedBy>Andres Barbudo Rodriguez</cp:lastModifiedBy>
  <cp:revision>1</cp:revision>
  <dcterms:created xsi:type="dcterms:W3CDTF">2026-08-23T23:57:33Z</dcterms:created>
  <dcterms:modified xsi:type="dcterms:W3CDTF">2026-08-23T23:57:33Z</dcterms:modified>
</cp:coreProperties>
</file>